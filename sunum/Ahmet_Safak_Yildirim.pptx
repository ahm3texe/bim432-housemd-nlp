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11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BIM432  ·  DOĞAL DİL İŞLEME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MD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Türkçe Diyalog Analizi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ile Konuşma Anlama  ·  Duygu Tahmini  ·  Karakter Botu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1097280" cy="36576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Şafak YILDIRIM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0664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030123082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Ogün ŞAHİN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06640" y="4892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030123084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Muhammet Berşan KURTCEPHE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030121020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Şengül BAYRAK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Sabahattin Zaim Üniversitesi  ·  Mayıs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projede ne yaptık?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901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MD verisi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sezon Türkçe replik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202996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922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1901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temizleme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2286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veriyi düzene soktuk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26440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686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363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zeka eğitimi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tahmin modeli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26440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922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31363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başarısı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35204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sonuçlar çıktı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49884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6868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4370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Karakter analizi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754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nasıl konuşuyor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449884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4922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43708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BOT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47548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gibi cevap veren program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573328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6868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5605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 demo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5989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 bir arayüzde gösterdik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573328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492240" y="5733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56052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Sınırlar ve etik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5989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yapamadık, dikkat noktaları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Setimiz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MD dizisinin Türkçe replikleri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6880" y="1691640"/>
            <a:ext cx="2606040" cy="15087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36880" y="1691640"/>
            <a:ext cx="260604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19760" y="1892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7.282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1976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replik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07512" y="1691640"/>
            <a:ext cx="2606040" cy="15087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407512" y="1691640"/>
            <a:ext cx="260604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590392" y="1892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590392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8144" y="1691640"/>
            <a:ext cx="2606040" cy="15087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178144" y="1691640"/>
            <a:ext cx="260604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361024" y="1892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61024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48776" y="1691640"/>
            <a:ext cx="2606040" cy="15087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8948776" y="1691640"/>
            <a:ext cx="260604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9131656" y="18928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31656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Hakkında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233672"/>
            <a:ext cx="146304" cy="146304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MD bölüm transkriptlerinin Türkçe çevirisi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010912"/>
            <a:ext cx="146304" cy="146304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1005840" y="4846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05840" y="5166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replik için: konuşan kişi, metin ve etiketler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5788152"/>
            <a:ext cx="146304" cy="146304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1005840" y="56235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Özelliği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5840" y="59436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+ tıbbi + diyalog karışımı, hazır model yok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40880" y="3566160"/>
            <a:ext cx="4526280" cy="2468880"/>
          </a:xfrm>
          <a:prstGeom prst="rect">
            <a:avLst/>
          </a:prstGeom>
          <a:solidFill>
            <a:srgbClr val="F4E1E4"/>
          </a:solidFill>
          <a:ln w="635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31520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SATIR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87184" y="4233672"/>
            <a:ext cx="4242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"29 yaşında kadın hasta nöbet geçirdi"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315200" y="52120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Konuşan: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veride ne sorunlar vardı?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ve hücreler dağınık — doğrudan kullanılamazdı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Etiketler dağınıktı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14884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Olması gereken ~10 sınıf yerine 200+ farklı yazım vardı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0" y="17373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Büyük/küçük harf karışıklığı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14884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'Açıklama' ve 'açıklama' iki ayrı sınıf sayılıyordu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38744" y="160020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238744" y="160020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439912" y="173736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Alaycılık etiketi bozuktu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39912" y="214884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yerine 'hayır', 'alaycı' ve sayısal hatalar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04088" y="3154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Aynı kişinin farklı yazımları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356616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· Dr. House · cudy (typo) hep aynı kişi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301752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370832" y="301752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0" y="3154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Bazı satırlar tamamen kaymış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56616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 adı duygu kolonuna, duygu organ kolonuna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38744" y="301752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8238744" y="301752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439912" y="315468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İngilizce-Türkçe karışımı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39912" y="356616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'IV' kısaltması 'ıv' olmuştu — küçük harfe çevirme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02920" y="443484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04088" y="45720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Eksik etiket vardı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" y="498348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satırda 'amaç' boş, az sayıda 'duygu/aşama' boş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443484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370832" y="443484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572000" y="45720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Aynı satır iki kez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498348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satır birebir kopyaydı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38744" y="4434840"/>
            <a:ext cx="3730752" cy="12801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8238744" y="4434840"/>
            <a:ext cx="54864" cy="12801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439912" y="457200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Çelişkili etiketler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39912" y="4983480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replik bir yerde 'tanı', başka yerde 'hipotez'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9 farklı kalite sorunu — hepsi tek tek çözüldü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Veriyi nasıl temizledik?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adımlı bir temizlik zinciri · 7282 → 6954 satır (%4.5 kayıp)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1412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4332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43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7132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Küçük harf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4564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 metni standartlaştır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1839316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994764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2497684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4976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40484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Alaycılık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7916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'evet/hayır'a indirgendi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512668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668116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171036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17103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13836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İsim temizliği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1268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kişiyi birleştirdik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186020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5341468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5844388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84438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87188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Eksik satır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14620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etiketli olanlar atıldı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6859372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7014820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517740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5177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60540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Sınıf toparlama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7972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200'lük kuyruk birleştirildi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rot="5400000">
            <a:off x="8532724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8688172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9191092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919109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33892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Gereksiz sütun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61324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kolonu sildik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rot="5400000">
            <a:off x="10206076" y="2596896"/>
            <a:ext cx="146304" cy="201168"/>
          </a:xfrm>
          <a:prstGeom prst="rtTriangl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10361524" y="1783080"/>
            <a:ext cx="1508760" cy="182880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10864444" y="2011680"/>
            <a:ext cx="502920" cy="50292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1086444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407244" y="2697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Metin temizliği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434676" y="306324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Noktalama, fazla boşluk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4206240"/>
            <a:ext cx="10881360" cy="23317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86868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4617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Pipeline'ın çıktısı modelin girdisi olur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6.954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91440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satır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440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(7.282'den)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8056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328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448056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atılan satır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48056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(%4.5 kayıp)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4672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400" dirty="0"/>
          </a:p>
        </p:txBody>
      </p:sp>
      <p:sp>
        <p:nvSpPr>
          <p:cNvPr id="55" name="Text 53"/>
          <p:cNvSpPr/>
          <p:nvPr/>
        </p:nvSpPr>
        <p:spPr>
          <a:xfrm>
            <a:off x="8046720" y="5897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aşamalı pipeline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0" y="6172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scriptte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Modelimiz nasıl çalışıyor?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veriyle eğitim · klasik makine öğrenmesi · BERT/ChatGPT yok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Yaklaşımımız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313432"/>
            <a:ext cx="411480" cy="41148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Metni sayıya çeviriyoruz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55117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replik, harf ve kelime parçalarına göre bir sayı dizisine dönüşür.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411480" cy="41148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01752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ayrı model eğittik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32841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Amaç, tanı aşaması, duygu ve alaycılık için ayrı sınıflandırıcılar; etiketli verilerle eğitildi.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411480" cy="41148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3867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947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Adil değerlendirme yaptık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10565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%80 eğitim / %20 test ayırdık; modelin hiç görmediği bölümlerle sınadık.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645152"/>
            <a:ext cx="411480" cy="41148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5720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Dengesizliği düzelttik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88289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Alaycı replikler az olduğundan modeli bu konuda daha duyarlı yaptık.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422392"/>
            <a:ext cx="411480" cy="41148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5422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534924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Türkçe ekler sorun değil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66013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parçaları kullandığımız için kelime kökü çıkarmaya gerek kalmadı.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0" y="1737360"/>
            <a:ext cx="3931920" cy="5943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726680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 metni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2668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giriş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2450592"/>
            <a:ext cx="3931920" cy="5943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72668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parçaları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26680" y="2779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karakterlik kombinler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3163824"/>
            <a:ext cx="3931920" cy="5943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772668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parçaları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2668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kelimelik kombinler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3877056"/>
            <a:ext cx="3931920" cy="5943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7266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Birleşik sayı dizisi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anladığı format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89520" y="4590288"/>
            <a:ext cx="3931920" cy="5943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77266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Sınıflandırıcı model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26680" y="4919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hedef için ayrı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5303520"/>
            <a:ext cx="3931920" cy="594360"/>
          </a:xfrm>
          <a:prstGeom prst="rect">
            <a:avLst/>
          </a:prstGeom>
          <a:solidFill>
            <a:srgbClr val="F4E1E4"/>
          </a:solidFill>
          <a:ln w="635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726680" y="5358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26680" y="5632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olasılıklarla 4 farklı etiket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Modelimiz ne kadar başarılı?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 görmediği bölümlerde test edildi · gerçekçi sonuçlar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10332720" cy="25146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Tahmin Edilen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4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Kaç sınıf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4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Doğruluk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4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Dengeli skor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2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Konuşmanın amacı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Tanı aşaması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Duygu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Alaycılık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(evet/hayır)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A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A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937760"/>
            <a:ext cx="10332720" cy="1783080"/>
          </a:xfrm>
          <a:prstGeom prst="rect">
            <a:avLst/>
          </a:prstGeom>
          <a:solidFill>
            <a:srgbClr val="F4E1E4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114300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Bunu nasıl okumalıyız?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5394960"/>
            <a:ext cx="9921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Alaycılık 'evet/hayır' olduğu için en kolayı — %88 hit. Diğer 3 görev çok daha zor çünkü 6-8 farklı sınıf var ve elimizde 7000 satır. Bu seviyeler Türkçe-tıbbi alanda klasik yöntemle elde edilebilecek gerçekçi sonuçlardır.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</a:t>
            </a: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Alaycılık verisi çok dengesiz (94/6). Model hep '0' dese %94 alırdı; biz F1 macro skoru ile değerlendirdik.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örnek üzerinden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Modelimiz bir replik için ne tahmin ediyor?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8229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" cy="822960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Girdi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"Bu hasta lupus olabilir, hemen MR çekelim."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697480" cy="31089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69748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Konuşmanın amacı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hipotez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5212080"/>
            <a:ext cx="196596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Doktor bir olasılık öne sürüyor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02152" y="2926080"/>
            <a:ext cx="2697480" cy="31089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3502152" y="2926080"/>
            <a:ext cx="269748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3685032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 aşaması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85032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hipotez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685032" y="4297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%55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85032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67912" y="5212080"/>
            <a:ext cx="196596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685032" y="5349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kesin tanı yok, fikir aşaması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64224" y="2926080"/>
            <a:ext cx="2697480" cy="31089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364224" y="2926080"/>
            <a:ext cx="269748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54710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47104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analitik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547104" y="4297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%45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547104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9984" y="5212080"/>
            <a:ext cx="196596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547104" y="5349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Soğukkanlı, mantıklı düşünme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26296" y="2926080"/>
            <a:ext cx="2697480" cy="310896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9226296" y="2926080"/>
            <a:ext cx="269748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9409176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Alaycılık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409176" y="35204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Hayır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409176" y="42976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%92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409176" y="4800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92056" y="5212080"/>
            <a:ext cx="1965960" cy="13716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9409176" y="53492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tıbbi öneri, alay yok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6217920"/>
            <a:ext cx="10972800" cy="411480"/>
          </a:xfrm>
          <a:prstGeom prst="rect">
            <a:avLst/>
          </a:prstGeom>
          <a:solidFill>
            <a:srgbClr val="F4E1E4"/>
          </a:solidFill>
          <a:ln w="12700">
            <a:solidFill>
              <a:srgbClr val="F4E1E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replik  →  </a:t>
            </a:r>
            <a:r>
              <a:rPr lang="en-US" sz="1200" b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tahmin  </a:t>
            </a: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(tek modelden değil, 4 ayrı modelden)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ne kadar alaycı?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 karakter alay oranları</a:t>
            </a:r>
            <a:endParaRPr lang="en-US" sz="1400" dirty="0"/>
          </a:p>
        </p:txBody>
      </p:sp>
      <p:pic>
        <p:nvPicPr>
          <p:cNvPr id="4" name="Image 0" descr="/Users/ahmetsafakyildirim/Projeler/izu/bim432_neural-language-processing/Proje/final/outputs/chart_sarcasm_by_speak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74980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 çıkanlar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321040" y="225856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549640" y="191109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ezici farkla zirvede — %15, diğerlerinin ~10 katı.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326440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549640" y="286207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Cuddy, Taub, Chase ikinci grup (%0.8 - %1.5 arası).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21040" y="42702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549640" y="392277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Cameron, masters, park, doctor: alaycı replik yok (%0).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sezon hangi duygu?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Sezonlar arasında duygusal renk değişimi</a:t>
            </a:r>
            <a:endParaRPr lang="en-US" sz="1400" dirty="0"/>
          </a:p>
        </p:txBody>
      </p:sp>
      <p:pic>
        <p:nvPicPr>
          <p:cNvPr id="4" name="Image 0" descr="/Users/ahmetsafakyildirim/Projeler/izu/bim432_neural-language-processing/Proje/final/outputs/chart_emotion_by_sea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74980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 çıkanlar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321040" y="225856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549640" y="1874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 her sezonda baskın — tıbbi anlatımın doğası.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326440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549640" y="29169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2'de 'ciddi' piki var (227 replik) — diğer sezonların çok üstünde.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21040" y="42702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549640" y="392277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sezonlarda 'diğer' kategorisi şişiyor — duygu paleti genişliyor.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hangi tarzda konuşur?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Karakterlerin konuşma profili (top 6)</a:t>
            </a:r>
            <a:endParaRPr lang="en-US" sz="1400" dirty="0"/>
          </a:p>
        </p:txBody>
      </p:sp>
      <p:pic>
        <p:nvPicPr>
          <p:cNvPr id="4" name="Image 0" descr="/Users/ahmetsafakyildirim/Projeler/izu/bim432_neural-language-processing/Proje/final/outputs/chart_intent_by_speak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74980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2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Öne çıkanlar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321040" y="225856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8549640" y="191109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 herkeste baskın (%42-58) </a:t>
            </a:r>
            <a:r>
              <a:rPr lang="en-US" sz="11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diyalogun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büyük kısmı.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326440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8549640" y="29169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Cameron'da 'hipotez' belirgin </a:t>
            </a:r>
            <a:r>
              <a:rPr lang="en-US" sz="11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sorgulayıcı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meraklı tutum.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21040" y="42702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8549640" y="392277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Taub ve Thirteen daha 'düz' </a:t>
            </a:r>
            <a:r>
              <a:rPr lang="en-US" sz="11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konuşur</a:t>
            </a: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açıklama oranı %55 üstü.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BOT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gibi cevap veren basit bir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Hafızaya alıyoruz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House'un 2.463 repliğini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kütüphane gibi tutuyoruz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352044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68680" y="3383280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2552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Mesajını alıyoruz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593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 metni de aynı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 çeviriyoruz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43984"/>
            <a:ext cx="352044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68680" y="4736592"/>
            <a:ext cx="457200" cy="457200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686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6085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yakını buluyoruz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946904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Kütüphanedeki en benzer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repliği döner — 50 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veya yapay sinir ağı yok — saf metin benzerliği.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737360"/>
            <a:ext cx="69951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754880" y="18105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181051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"lupus olabilir mi?"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2377440"/>
            <a:ext cx="6995160" cy="1325880"/>
          </a:xfrm>
          <a:prstGeom prst="rect">
            <a:avLst/>
          </a:prstGeom>
          <a:solidFill>
            <a:srgbClr val="F4E1E4"/>
          </a:solidFill>
          <a:ln w="635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4754880" y="2450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74320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"herkes lupus diyor ama hiçbir zaman lupus değildir bu sefer de değil"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33756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5, Bölüm 16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977640"/>
            <a:ext cx="6995160" cy="50292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4754880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405079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"hepatit c olabilir"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4617720"/>
            <a:ext cx="6995160" cy="1325880"/>
          </a:xfrm>
          <a:prstGeom prst="rect">
            <a:avLst/>
          </a:prstGeom>
          <a:solidFill>
            <a:srgbClr val="F4E1E4"/>
          </a:solidFill>
          <a:ln w="635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54880" y="4690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983480"/>
            <a:ext cx="6629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"hepatit c'si var ki bu tüm semptomlarınızı açıklıyor"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5577840"/>
            <a:ext cx="6629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 7, Bölüm 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tek bir web arayüzünde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777240"/>
          </a:xfrm>
          <a:prstGeom prst="rect">
            <a:avLst/>
          </a:prstGeom>
          <a:solidFill>
            <a:srgbClr val="0F0A0A"/>
          </a:solidFill>
          <a:ln w="12700">
            <a:solidFill>
              <a:srgbClr val="0F0A0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run app.py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657600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5760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farklı tahmin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replik için amaç, tanı aşaması, duygu ve alaycılık tahmini olasılıkla birlikte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880360"/>
            <a:ext cx="3657600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434840" y="2880360"/>
            <a:ext cx="365760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BOT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749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 metne en yakın 3 House repliği · sezon ve bölüm bilgisiyle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880360"/>
            <a:ext cx="3657600" cy="246888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229600" y="2880360"/>
            <a:ext cx="365760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45820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Anında çalışır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749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Yarım saniyenin altında sonuç · ChatGPT gibi bir servise bağımlı değil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5623560"/>
            <a:ext cx="5943600" cy="640080"/>
          </a:xfrm>
          <a:prstGeom prst="rect">
            <a:avLst/>
          </a:prstGeom>
          <a:solidFill>
            <a:srgbClr val="F4E1E4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3291840" y="5715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sırasında: </a:t>
            </a:r>
            <a:r>
              <a:rPr lang="en-US" sz="1600" b="1" dirty="0">
                <a:solidFill>
                  <a:srgbClr val="8A24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http://localhost:8501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Sınırlar ve Etik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443484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44068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Neyi yapamıyor?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6700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143000" y="24048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sınırlı (~7000 satır), sınıf çok → doğruluk %38-51 aralığında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558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43000" y="31089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Etiketler tek kişi tarafından alınmış, bazı yerlerde tutarsızdı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0416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143000" y="3800139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 dar olduğu için BERT gibi büyük modelleri denemedik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7274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43000" y="44622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olan etiketleri (örn. nadir duygular) iyi öğrenemiyor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54132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143000" y="51480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tahmini açıklayıcıdır, %100 doğru değil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5349240" cy="4434840"/>
          </a:xfrm>
          <a:prstGeom prst="rect">
            <a:avLst/>
          </a:prstGeom>
          <a:solidFill>
            <a:srgbClr val="F8F8F8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73152"/>
          </a:xfrm>
          <a:prstGeom prst="rect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537960" y="19202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Etik notlar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37960" y="26700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766560" y="24048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tıbbi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tavsiye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vermez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Sadece kurgusal diyalog analizi.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3558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66560" y="30906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kaynağı dizi senaryolarıdır, gerçek hasta verisi içermez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0416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66560" y="376831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BOT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amaçlı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klinikte kullanılamaz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7274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766560" y="44622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MD telifi yapımcısına aittir, akademik amaçla kullanıldı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37960" y="5413248"/>
            <a:ext cx="109728" cy="109728"/>
          </a:xfrm>
          <a:prstGeom prst="ellipse">
            <a:avLst/>
          </a:prstGeom>
          <a:solidFill>
            <a:srgbClr val="8A2432"/>
          </a:solidFill>
          <a:ln w="12700">
            <a:solidFill>
              <a:srgbClr val="8A243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766560" y="514807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dizi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anlatımıdır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</a:t>
            </a: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dünyaya doğrudan genellenmez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21685" y="2743200"/>
            <a:ext cx="67486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Teşekkürler</a:t>
            </a:r>
            <a:endParaRPr lang="en-US" sz="8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1175</Words>
  <Application>Microsoft Macintosh PowerPoint</Application>
  <PresentationFormat>Geniş ekran</PresentationFormat>
  <Paragraphs>277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MD Türkçe Diyalog Analizi</dc:title>
  <dc:subject>PptxGenJS Presentation</dc:subject>
  <dc:creator>Ahmet Şafak YILDIRIM, Ogün ŞAHİN, Muhammet Berşan KURTCEPHE</dc:creator>
  <cp:lastModifiedBy>AHMET ŞAFAK YILDIRIM</cp:lastModifiedBy>
  <cp:revision>2</cp:revision>
  <dcterms:created xsi:type="dcterms:W3CDTF">2026-05-17T19:17:48Z</dcterms:created>
  <dcterms:modified xsi:type="dcterms:W3CDTF">2026-05-17T19:52:44Z</dcterms:modified>
</cp:coreProperties>
</file>